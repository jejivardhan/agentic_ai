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  <ns0:embeddedFont>
      <ns0:font typeface="Plus Jakarta Sans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8e5425bd-ad54-4ae9-9750-f4f427ecd705.fntdata" /><ns0:Relationship Id="rIdFont14" Type="http://schemas.openxmlformats.org/officeDocument/2006/relationships/font" Target="fonts/99cba9a3-9edf-4862-b2dc-6b6e41386128.fntdata" /><ns0:Relationship Id="rIdFont15" Type="http://schemas.openxmlformats.org/officeDocument/2006/relationships/font" Target="fonts/28ee6efd-9fc1-49e2-b1c9-6f4c59dbab6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826198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143000"/>
            <a:ext cx="45720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925" y="1152525"/>
            <a:ext cx="4552950" cy="455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22264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308026"/>
            <a:ext cx="630078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AI Recommendation Systems in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87948"/>
            <a:ext cx="6000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Personalizing learning pathways, predicting student risks, and accelerating academic achievement through adaptive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1917501"/>
            <a:ext cx="3559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EDTECH INNOVATION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49998"/>
            <a:ext cx="276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Executive Technology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3130"/>
            <a:ext cx="3505200" cy="2581275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63130"/>
            <a:ext cx="3505200" cy="2581275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63130"/>
            <a:ext cx="3505200" cy="2581275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15555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15555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15555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148905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3148905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148905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CORE MACHINERY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Engine Architectures for Learning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39455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Collaborative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2045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Analyzes peer learning behaviors to suggest optimal study sequences and practice 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739455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Content-Based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12045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Matches individual knowledge gaps directly against curriculum topics for targeted mastery.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39455"/>
            <a:ext cx="38385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Knowledge Graphs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12045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Models prerequisite relationships across subjects to dynamic adaptive learning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980"/>
            <a:ext cx="2600325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86980"/>
            <a:ext cx="2600325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86980"/>
            <a:ext cx="2600325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86980"/>
            <a:ext cx="2600325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86980"/>
            <a:ext cx="38100" cy="18954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986980"/>
            <a:ext cx="38100" cy="18954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2986980"/>
            <a:ext cx="38100" cy="189547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2986980"/>
            <a:ext cx="38100" cy="18954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EMPIRICAL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Quantifiable Impact on Student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91780"/>
            <a:ext cx="2631281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2563EB"/>
                </a:solidFill>
                <a:latin typeface="Plus Jakarta Sans"/>
              </a:rPr>
              <a:t>+62%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01380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Test Score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177605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Achieved through adaptive recommendation paths.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125" y="3291780"/>
            <a:ext cx="2631281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D9488"/>
                </a:solidFill>
                <a:latin typeface="Plus Jakarta Sans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125" y="3901380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Teacher Time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7125" y="4177605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Reduction in routine assessment and grading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3291780"/>
            <a:ext cx="2631281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9333EA"/>
                </a:solidFill>
                <a:latin typeface="Plus Jakarta San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3901380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At-Risk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4177605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Early warning detection within initial two weeks.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291780"/>
            <a:ext cx="2631281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EA580C"/>
                </a:solidFill>
                <a:latin typeface="Plus Jakarta Sans"/>
              </a:rPr>
              <a:t>-15%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901380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Course Dropout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4177605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Fewer course abandonments via proactive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1692"/>
            <a:ext cx="10972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96567"/>
            <a:ext cx="10972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1442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9425" y="3010792"/>
            <a:ext cx="8286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9425" y="3915667"/>
            <a:ext cx="8286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9425" y="4882455"/>
            <a:ext cx="8286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9425" y="3010792"/>
            <a:ext cx="7540823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9425" y="3915667"/>
            <a:ext cx="6629400" cy="952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9425" y="4882455"/>
            <a:ext cx="6215062" cy="9525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CAPABILITY SPECTRUM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Recommendation Capabilities in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839342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Adaptive Courseware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744217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Early Warning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601467"/>
            <a:ext cx="210026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Skill &amp; Elective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425" y="2791717"/>
            <a:ext cx="3036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Real-time pace &amp; content adjustment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9775" y="2791717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91% Resolution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9425" y="3696592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Proactive intervention for struggling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5050" y="3696592"/>
            <a:ext cx="1726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80% Prevention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9425" y="4663380"/>
            <a:ext cx="3643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Personalized course &amp; career path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4663380"/>
            <a:ext cx="2512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33EA"/>
                </a:solidFill>
                <a:latin typeface="Inter"/>
              </a:rPr>
              <a:t>75% Student Motivation 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9900"/>
            <a:ext cx="2628900" cy="1887587"/>
          </a:xfrm>
          <a:prstGeom prst="roundRect">
            <a:avLst>
              <a:gd name="adj" fmla="val 80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009900"/>
            <a:ext cx="2628900" cy="1887587"/>
          </a:xfrm>
          <a:prstGeom prst="roundRect">
            <a:avLst>
              <a:gd name="adj" fmla="val 80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09900"/>
            <a:ext cx="2628900" cy="1887587"/>
          </a:xfrm>
          <a:prstGeom prst="roundRect">
            <a:avLst>
              <a:gd name="adj" fmla="val 80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009900"/>
            <a:ext cx="2628900" cy="1887587"/>
          </a:xfrm>
          <a:prstGeom prst="roundRect">
            <a:avLst>
              <a:gd name="adj" fmla="val 80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INSTITUTIONAL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Four Steps to Deploy Recommendation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24225"/>
            <a:ext cx="2786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PHASE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495675"/>
            <a:ext cx="29253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29050"/>
            <a:ext cx="23241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Unify LMS logs, assessment records, and student interests into clean data stores.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925" y="3324225"/>
            <a:ext cx="2786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0925" y="3609975"/>
            <a:ext cx="29253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Model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3943350"/>
            <a:ext cx="23241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Train algorithms with human-in-the-loop oversight to eliminate demographic bias.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3324225"/>
            <a:ext cx="2786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33EA"/>
                </a:solidFill>
                <a:latin typeface="Plus Jakarta Sans"/>
              </a:rP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609975"/>
            <a:ext cx="29253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In-Context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3943350"/>
            <a:ext cx="23241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Embed real-time micro-recommendations directly into student learning portals.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3324225"/>
            <a:ext cx="2786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525" y="3609975"/>
            <a:ext cx="29253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Outcome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525" y="3943350"/>
            <a:ext cx="23241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Continuously evaluate completion rates and refine predictive model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5655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https://learningmole.com/wp-content/uploads/2025/08/v2-t4mn0-lm50s.jpg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35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learningmole.com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