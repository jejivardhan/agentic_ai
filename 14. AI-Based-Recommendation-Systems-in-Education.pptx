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Fira Mono Medium"/>
      <p:regular r:id="rId201314"/>
    </p:embeddedFont>
    <p:embeddedFont>
      <p:font typeface="Fira Mono Bold"/>
      <p:regular r:id="rId201315"/>
    </p:embeddedFont>
    <p:embeddedFont>
      <p:font typeface="Fira Mono"/>
      <p:regular r:id="rId201316"/>
    </p:embeddedFont>
    <p:embeddedFont>
      <p:font typeface="Schibsted Grotesk"/>
      <p:regular r:id="rId201317"/>
    </p:embeddedFont>
    <p:embeddedFont>
      <p:font typeface="Schibsted Grotesk Medium"/>
      <p:regular r:id="rId201318"/>
    </p:embeddedFont>
    <p:embeddedFont>
      <p:font typeface="Schibsted Grotesk SemiBold"/>
      <p:regular r:id="rId201319"/>
    </p:embeddedFont>
    <p:embeddedFont>
      <p:font typeface="Schibsted Grotesk Bold"/>
      <p:regular r:id="rId201320"/>
    </p:embeddedFont>
    <p:embeddedFont>
      <p:font typeface="Schibsted Grotesk Extra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examine how recommender systems function within digital learning environments. Unlike entertainment recommenders designed for engagement, educational systems optimize for pedagogical growth, mastery, and retention.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the three core tensions: content fragmentation, pacing mismatch, and instructor scaling limits. An AI recommender acts as an instructional decision-support tool that bridges these three operational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circular topology. It is essential to emphasize that the objective function differs fundamentally from Netflix or Amazon: we do not optimize for click-through rate, but for cognitive mastery and pedagogical progression.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the four decoupled stages: ingestion, representation, ranking, and updating. This separation allows engineers to swap ranking algorithms without rewriting data ingestion or graph definitions.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these three families. Content-based is transparent but narrow; collaborative filtering finds cross-student patterns but struggles when new items or students arrive; knowledge graphs enforce curriculum rules. In practice, modern systems combine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test of an educational recommender. Rather than repeating failed questions, it pinpoints the underlying misconception—the sign error inside the square root—and serves targeted scaffolding before progressing.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three tiers of evaluation. Algorithmic accuracy on held-out test data is necessary but insufficient. True validation requires measuring learning gains and verifying that teachers retain override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governance. Responsible educational AI is not an afterthought: it requires privacy-preserving architectures, audits against tracking bias, and full instructional override controls for teachers.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1096367"/>
            <a:ext cx="680703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LECTURE 08 · APPLIED EDTECH &amp;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1463377"/>
            <a:ext cx="640064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04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AI-Based Recommendation Systems in Education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07987" y="4284365"/>
            <a:ext cx="1600160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4735215"/>
            <a:ext cx="640064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Architectures, algorithmic models, and pedagogical alignment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87" y="5530552"/>
            <a:ext cx="680703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A8C4B7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Department of Computer Science &amp; Learning Sciences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413" y="457200"/>
            <a:ext cx="4216295" cy="54273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67413" y="6062365"/>
            <a:ext cx="2866160" cy="338435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C5E3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91235" y="6124277"/>
            <a:ext cx="322810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SYSTEM ARCHITECTURE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457200"/>
            <a:ext cx="3388335" cy="542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189" y="6062365"/>
            <a:ext cx="2060424" cy="338435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C5E35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81010" y="6124277"/>
            <a:ext cx="242236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1:N BOTTLENECK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886798" y="306884"/>
            <a:ext cx="730489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MOTIVATION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886798" y="639114"/>
            <a:ext cx="7050903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54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Why education needs recommendations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886798" y="1763474"/>
            <a:ext cx="7050903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Standard curricula treat cohorts as uniform, yet individual learning trajectories diverge immediately.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886798" y="2816820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9" name="Text 6"/>
          <p:cNvSpPr/>
          <p:nvPr/>
        </p:nvSpPr>
        <p:spPr>
          <a:xfrm>
            <a:off x="5043262" y="2902545"/>
            <a:ext cx="6966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39234" y="2853333"/>
            <a:ext cx="64984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Information overload &amp; fragmented content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39234" y="3323471"/>
            <a:ext cx="6498467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Learners search textbooks, videos, and exercises without knowing which resource matches their prerequisite gaps.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4886798" y="4103886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13" name="Text 10"/>
          <p:cNvSpPr/>
          <p:nvPr/>
        </p:nvSpPr>
        <p:spPr>
          <a:xfrm>
            <a:off x="5019649" y="4189611"/>
            <a:ext cx="7439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39234" y="4140398"/>
            <a:ext cx="64984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Divergent mastery speeds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439234" y="4610537"/>
            <a:ext cx="6498467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Fixed pacing bores advanced students and strands struggling learners needing targeted remediation at the moment of misconception.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4886798" y="5390952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17" name="Text 14"/>
          <p:cNvSpPr/>
          <p:nvPr/>
        </p:nvSpPr>
        <p:spPr>
          <a:xfrm>
            <a:off x="5019053" y="5476677"/>
            <a:ext cx="7450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39234" y="5427464"/>
            <a:ext cx="64984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Instructor attention bottleneck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439234" y="5897602"/>
            <a:ext cx="6498467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In a class of 100, one instructor cannot continuously diagnose each student and assign personalized next steps in real time.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4886798" y="3970536"/>
            <a:ext cx="7050903" cy="1270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21" name="Shape 18"/>
          <p:cNvSpPr/>
          <p:nvPr/>
        </p:nvSpPr>
        <p:spPr>
          <a:xfrm>
            <a:off x="4886798" y="5257602"/>
            <a:ext cx="7050903" cy="1270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22" name="Text 19"/>
          <p:cNvSpPr/>
          <p:nvPr/>
        </p:nvSpPr>
        <p:spPr>
          <a:xfrm>
            <a:off x="11793739" y="6526510"/>
            <a:ext cx="39795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12138"/>
            <a:ext cx="7315017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FOUNDATIONAL DEFINITION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22655"/>
            <a:ext cx="7315017" cy="919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450" spc="-52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What an educational recommender does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81970" y="406400"/>
            <a:ext cx="2552537" cy="324048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C5E3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0533" y="471372"/>
            <a:ext cx="2433973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CONTINUOUS FEEDBACK LOOP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189" y="1774570"/>
            <a:ext cx="11277318" cy="707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A feedback loop matches each learner’s changing state to useful next resources, activities, or pathways.</a:t>
            </a:r>
            <a:endParaRPr lang="en-US" sz="2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638623"/>
            <a:ext cx="547475" cy="5474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189" y="3355957"/>
            <a:ext cx="5486263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Diagnose state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57189" y="3801055"/>
            <a:ext cx="5486263" cy="498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Assess latent knowledge, misconceptions, and learning preferences.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244" y="2638623"/>
            <a:ext cx="547475" cy="5474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48244" y="3355957"/>
            <a:ext cx="5486263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Match resource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248244" y="3801055"/>
            <a:ext cx="5486263" cy="498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Filter candidate materials by curriculum graphs and prerequisite rules.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4599980"/>
            <a:ext cx="547475" cy="54748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189" y="5317313"/>
            <a:ext cx="5486263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Deliver task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57189" y="5762411"/>
            <a:ext cx="5486263" cy="249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Serve the next exercise, explanation, or project checkpoint.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4599980"/>
            <a:ext cx="547475" cy="54748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48244" y="5317313"/>
            <a:ext cx="5486263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Capture feedback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6248244" y="5762411"/>
            <a:ext cx="5486263" cy="498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Track solution accuracy, dwell time, hint requests, and retry attempts.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57189" y="6421534"/>
            <a:ext cx="11277318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spc="13" kern="100" dirty="0">
                <a:solidFill>
                  <a:srgbClr val="A8C4B7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Unlike e-commerce engines that maximize dwell time or purchases, educational recommenders optimize learning efficiency and mastery.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791953" y="6526510"/>
            <a:ext cx="39974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31800"/>
            <a:ext cx="768072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64030"/>
            <a:ext cx="7680728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54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Inside the recommendation pipeline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875491" y="431800"/>
            <a:ext cx="1859015" cy="338435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C5E3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9313" y="493713"/>
            <a:ext cx="173519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FOUR CORE STAGES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189" y="1867436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Data flows continuously from raw telemetry into contextualized instructional decisions.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189" y="2266454"/>
            <a:ext cx="2590735" cy="3834408"/>
          </a:xfrm>
          <a:prstGeom prst="roundRect">
            <a:avLst>
              <a:gd name="adj" fmla="val 4706"/>
            </a:avLst>
          </a:prstGeom>
          <a:solidFill>
            <a:srgbClr val="F7FAF4"/>
          </a:solidFill>
          <a:ln/>
        </p:spPr>
      </p:sp>
      <p:sp>
        <p:nvSpPr>
          <p:cNvPr id="8" name="Text 6"/>
          <p:cNvSpPr/>
          <p:nvPr/>
        </p:nvSpPr>
        <p:spPr>
          <a:xfrm>
            <a:off x="660383" y="2495054"/>
            <a:ext cx="840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0383" y="2815134"/>
            <a:ext cx="2184246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10" name="Text 8"/>
          <p:cNvSpPr/>
          <p:nvPr/>
        </p:nvSpPr>
        <p:spPr>
          <a:xfrm>
            <a:off x="660383" y="2979241"/>
            <a:ext cx="218434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Signal ingestion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0383" y="3449380"/>
            <a:ext cx="2184345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Captures clickstreams, problem submissions, attempt counts, hint requests, and rubric scores.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60383" y="4942780"/>
            <a:ext cx="2184246" cy="31651"/>
          </a:xfrm>
          <a:prstGeom prst="roundRect">
            <a:avLst>
              <a:gd name="adj" fmla="val 49998"/>
            </a:avLst>
          </a:prstGeom>
          <a:solidFill>
            <a:srgbClr val="0F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660383" y="5144393"/>
            <a:ext cx="2184345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5E7A12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●</a:t>
            </a:r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 Input: Telemetry &amp; logs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52716" y="2266454"/>
            <a:ext cx="2590735" cy="3834408"/>
          </a:xfrm>
          <a:prstGeom prst="roundRect">
            <a:avLst>
              <a:gd name="adj" fmla="val 4706"/>
            </a:avLst>
          </a:prstGeom>
          <a:solidFill>
            <a:srgbClr val="F7FAF4"/>
          </a:solidFill>
          <a:ln/>
        </p:spPr>
      </p:sp>
      <p:sp>
        <p:nvSpPr>
          <p:cNvPr id="15" name="Text 13"/>
          <p:cNvSpPr/>
          <p:nvPr/>
        </p:nvSpPr>
        <p:spPr>
          <a:xfrm>
            <a:off x="3555911" y="2495054"/>
            <a:ext cx="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55911" y="2815134"/>
            <a:ext cx="2184246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17" name="Text 15"/>
          <p:cNvSpPr/>
          <p:nvPr/>
        </p:nvSpPr>
        <p:spPr>
          <a:xfrm>
            <a:off x="3555911" y="2979241"/>
            <a:ext cx="218434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Representation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555911" y="3449380"/>
            <a:ext cx="2184345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Transforms students into mastery vectors and content into semantic embedding spaces.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3555911" y="4942780"/>
            <a:ext cx="2184246" cy="31651"/>
          </a:xfrm>
          <a:prstGeom prst="roundRect">
            <a:avLst>
              <a:gd name="adj" fmla="val 49998"/>
            </a:avLst>
          </a:prstGeom>
          <a:solidFill>
            <a:srgbClr val="0F3B2E"/>
          </a:solidFill>
          <a:ln/>
        </p:spPr>
      </p:sp>
      <p:sp>
        <p:nvSpPr>
          <p:cNvPr id="20" name="Text 18"/>
          <p:cNvSpPr/>
          <p:nvPr/>
        </p:nvSpPr>
        <p:spPr>
          <a:xfrm>
            <a:off x="3555911" y="5144393"/>
            <a:ext cx="2184345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5E7A12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●</a:t>
            </a:r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 Input: Knowledge graphs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48244" y="2266454"/>
            <a:ext cx="2590735" cy="3834408"/>
          </a:xfrm>
          <a:prstGeom prst="roundRect">
            <a:avLst>
              <a:gd name="adj" fmla="val 4706"/>
            </a:avLst>
          </a:prstGeom>
          <a:solidFill>
            <a:srgbClr val="F7FAF4"/>
          </a:solidFill>
          <a:ln/>
        </p:spPr>
      </p:sp>
      <p:sp>
        <p:nvSpPr>
          <p:cNvPr id="22" name="Text 20"/>
          <p:cNvSpPr/>
          <p:nvPr/>
        </p:nvSpPr>
        <p:spPr>
          <a:xfrm>
            <a:off x="6451439" y="2495054"/>
            <a:ext cx="8884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51439" y="2815134"/>
            <a:ext cx="2184246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24" name="Text 22"/>
          <p:cNvSpPr/>
          <p:nvPr/>
        </p:nvSpPr>
        <p:spPr>
          <a:xfrm>
            <a:off x="6451439" y="2979241"/>
            <a:ext cx="218434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Candidate ranking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51439" y="3449380"/>
            <a:ext cx="2184345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Generates matching candidates, scores utility, and filters by pedagogical prerequisite rules.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451439" y="4942780"/>
            <a:ext cx="2184246" cy="31651"/>
          </a:xfrm>
          <a:prstGeom prst="roundRect">
            <a:avLst>
              <a:gd name="adj" fmla="val 49998"/>
            </a:avLst>
          </a:prstGeom>
          <a:solidFill>
            <a:srgbClr val="0F3B2E"/>
          </a:solidFill>
          <a:ln/>
        </p:spPr>
      </p:sp>
      <p:sp>
        <p:nvSpPr>
          <p:cNvPr id="27" name="Text 25"/>
          <p:cNvSpPr/>
          <p:nvPr/>
        </p:nvSpPr>
        <p:spPr>
          <a:xfrm>
            <a:off x="6451439" y="5144393"/>
            <a:ext cx="2184345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5E7A12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●</a:t>
            </a:r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 Input: Policy scoring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143771" y="2266454"/>
            <a:ext cx="2590735" cy="3834408"/>
          </a:xfrm>
          <a:prstGeom prst="roundRect">
            <a:avLst>
              <a:gd name="adj" fmla="val 4706"/>
            </a:avLst>
          </a:prstGeom>
          <a:solidFill>
            <a:srgbClr val="F7FAF4"/>
          </a:solidFill>
          <a:ln/>
        </p:spPr>
      </p:sp>
      <p:sp>
        <p:nvSpPr>
          <p:cNvPr id="29" name="Text 27"/>
          <p:cNvSpPr/>
          <p:nvPr/>
        </p:nvSpPr>
        <p:spPr>
          <a:xfrm>
            <a:off x="9346966" y="2495054"/>
            <a:ext cx="8924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46966" y="2815134"/>
            <a:ext cx="2184246" cy="1905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31" name="Text 29"/>
          <p:cNvSpPr/>
          <p:nvPr/>
        </p:nvSpPr>
        <p:spPr>
          <a:xfrm>
            <a:off x="9346966" y="2979241"/>
            <a:ext cx="218434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Policy adaptation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346966" y="3449380"/>
            <a:ext cx="2184345" cy="159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Evaluates post-task assessment outcomes to update learner weights and refine future recommendations.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9346966" y="5208488"/>
            <a:ext cx="2184246" cy="31651"/>
          </a:xfrm>
          <a:prstGeom prst="roundRect">
            <a:avLst>
              <a:gd name="adj" fmla="val 49998"/>
            </a:avLst>
          </a:prstGeom>
          <a:solidFill>
            <a:srgbClr val="0F3B2E"/>
          </a:solidFill>
          <a:ln/>
        </p:spPr>
      </p:sp>
      <p:sp>
        <p:nvSpPr>
          <p:cNvPr id="34" name="Text 32"/>
          <p:cNvSpPr/>
          <p:nvPr/>
        </p:nvSpPr>
        <p:spPr>
          <a:xfrm>
            <a:off x="9346966" y="5410101"/>
            <a:ext cx="2184345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5E7A12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●</a:t>
            </a:r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 Input: Reward signals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189" y="6195120"/>
            <a:ext cx="1173450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A8C4B7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Every stage maintains strict pedagogical guardrails so recommendations respect curriculum scaffolding.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791357" y="6526510"/>
            <a:ext cx="40033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31800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ALGORITHMIC PARADIGMS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64030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54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Three model families power the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1406465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Architecture choice depends on available metadata, cohort density, and explainability requirements.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1889026"/>
            <a:ext cx="3555911" cy="3869234"/>
          </a:xfrm>
          <a:prstGeom prst="roundRect">
            <a:avLst>
              <a:gd name="adj" fmla="val 3429"/>
            </a:avLst>
          </a:prstGeom>
          <a:solidFill>
            <a:srgbClr val="F7FAF4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2178903"/>
            <a:ext cx="304792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5E7A12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●</a:t>
            </a:r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 Content-based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1182" y="2707481"/>
            <a:ext cx="3047924" cy="2505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Mechanism:</a:t>
            </a:r>
            <a:pPr algn="l" indent="0" marL="0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Computes cosine similarity between learner feature vectors and item metadata (topic, difficulty, format).</a:t>
            </a:r>
            <a:endParaRPr lang="en-US" sz="15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Strength:</a:t>
            </a:r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Robust to cold-start for new items; highly transparent explanations. </a:t>
            </a:r>
            <a:pPr algn="l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Risk of over-specialization.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17892" y="1889026"/>
            <a:ext cx="3555911" cy="3869234"/>
          </a:xfrm>
          <a:prstGeom prst="roundRect">
            <a:avLst>
              <a:gd name="adj" fmla="val 3429"/>
            </a:avLst>
          </a:prstGeom>
          <a:solidFill>
            <a:srgbClr val="F7FAF4"/>
          </a:solidFill>
          <a:ln/>
        </p:spPr>
      </p:sp>
      <p:sp>
        <p:nvSpPr>
          <p:cNvPr id="9" name="Text 7"/>
          <p:cNvSpPr/>
          <p:nvPr/>
        </p:nvSpPr>
        <p:spPr>
          <a:xfrm>
            <a:off x="4571886" y="2178903"/>
            <a:ext cx="304792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F6FAE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▲</a:t>
            </a:r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 Collaborative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1886" y="2707481"/>
            <a:ext cx="3047924" cy="2239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Mechanism:</a:t>
            </a:r>
            <a:pPr algn="l" indent="0" marL="0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Matrix factorization &amp; neural embeddings identify latent peer cohorts with shared performance profiles.</a:t>
            </a:r>
            <a:endParaRPr lang="en-US" sz="15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Strength:</a:t>
            </a:r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Uncovers non-obvious resource pathways without manual tagging. </a:t>
            </a:r>
            <a:pPr algn="l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Suffers from cold-start gaps.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178595" y="1889026"/>
            <a:ext cx="3555911" cy="3869234"/>
          </a:xfrm>
          <a:prstGeom prst="roundRect">
            <a:avLst>
              <a:gd name="adj" fmla="val 3429"/>
            </a:avLst>
          </a:prstGeom>
          <a:solidFill>
            <a:srgbClr val="F7FAF4"/>
          </a:solidFill>
          <a:ln/>
        </p:spPr>
      </p:sp>
      <p:sp>
        <p:nvSpPr>
          <p:cNvPr id="12" name="Text 10"/>
          <p:cNvSpPr/>
          <p:nvPr/>
        </p:nvSpPr>
        <p:spPr>
          <a:xfrm>
            <a:off x="8432589" y="2178903"/>
            <a:ext cx="304792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9A62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■</a:t>
            </a:r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 Knowledge-aware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32589" y="2707481"/>
            <a:ext cx="3047924" cy="277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Mechanism:</a:t>
            </a:r>
            <a:pPr algn="l" indent="0" marL="0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Graph neural networks traverse ontology graphs mapping concepts, prerequisites, and learning objectives.</a:t>
            </a:r>
            <a:endParaRPr lang="en-US" sz="15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Strength:</a:t>
            </a:r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Guarantees prerequisite compliance and pedagogical coherence. </a:t>
            </a:r>
            <a:pPr algn="l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High curation overhead.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189" y="5941060"/>
            <a:ext cx="11277318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E3EEE7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Hybrid models</a:t>
            </a:r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combine behavior, content, curriculum structure, and constraints. Production educational engines universally adopt hybrid topologies: collaborative signals filtered through knowledge graphs.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789075" y="6526510"/>
            <a:ext cx="40262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08357"/>
            <a:ext cx="7315017" cy="20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WORKED END-TO-END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715461"/>
            <a:ext cx="7315017" cy="902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400" spc="-51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A worked example: the next best learning resource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420783" y="406400"/>
            <a:ext cx="2313723" cy="317996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C5E3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37065" y="466499"/>
            <a:ext cx="2197442" cy="201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CASE STUDY: ALGEBRA II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189" y="1743288"/>
            <a:ext cx="11734506" cy="281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Tracing automated diagnosis, intervention selection, and mastery verification for a struggling student.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189" y="2302570"/>
            <a:ext cx="380990" cy="381000"/>
          </a:xfrm>
          <a:prstGeom prst="ellipse">
            <a:avLst/>
          </a:prstGeom>
          <a:solidFill>
            <a:srgbClr val="FF7F66"/>
          </a:solidFill>
          <a:ln/>
        </p:spPr>
      </p:sp>
      <p:sp>
        <p:nvSpPr>
          <p:cNvPr id="8" name="Text 6"/>
          <p:cNvSpPr/>
          <p:nvPr/>
        </p:nvSpPr>
        <p:spPr>
          <a:xfrm>
            <a:off x="606509" y="2385120"/>
            <a:ext cx="6918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F3B2E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15975" y="2342459"/>
            <a:ext cx="10718532" cy="310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Diagnostic trigger: repeated failure on quadratic equations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15975" y="2776795"/>
            <a:ext cx="10718532" cy="49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4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Student fails 3 consecutive problems on </a:t>
            </a:r>
            <a:pPr algn="l" indent="0" marL="0">
              <a:lnSpc>
                <a:spcPct val="109000"/>
              </a:lnSpc>
              <a:buNone/>
            </a:pPr>
            <a:r>
              <a:rPr lang="en-US" sz="1400" i="1" dirty="0">
                <a:solidFill>
                  <a:srgbClr val="E3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</a:t>
            </a:r>
            <a:pPr algn="l" indent="0" marL="0">
              <a:lnSpc>
                <a:spcPct val="109000"/>
              </a:lnSpc>
              <a:buNone/>
            </a:pPr>
            <a:r>
              <a:rPr lang="en-US" sz="14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. Analysis reveals correct arithmetic but sign errors inside the discriminant </a:t>
            </a:r>
            <a:pPr algn="l" indent="0" marL="0">
              <a:lnSpc>
                <a:spcPct val="109000"/>
              </a:lnSpc>
              <a:buNone/>
            </a:pPr>
            <a:r>
              <a:rPr lang="en-US" sz="1400" i="1" dirty="0">
                <a:solidFill>
                  <a:srgbClr val="E3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</a:t>
            </a:r>
            <a:pPr algn="l" indent="0" marL="0">
              <a:lnSpc>
                <a:spcPct val="109000"/>
              </a:lnSpc>
              <a:buNone/>
            </a:pPr>
            <a:r>
              <a:rPr lang="en-US" sz="14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.</a:t>
            </a:r>
            <a:endParaRPr lang="en-US" sz="14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7552" y="2789734"/>
            <a:ext cx="1303503" cy="22959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993" y="3038376"/>
            <a:ext cx="785495" cy="2168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189" y="3515618"/>
            <a:ext cx="380990" cy="381000"/>
          </a:xfrm>
          <a:prstGeom prst="ellipse">
            <a:avLst/>
          </a:prstGeom>
          <a:solidFill>
            <a:srgbClr val="FF7F66"/>
          </a:solidFill>
          <a:ln/>
        </p:spPr>
      </p:sp>
      <p:sp>
        <p:nvSpPr>
          <p:cNvPr id="14" name="Text 10"/>
          <p:cNvSpPr/>
          <p:nvPr/>
        </p:nvSpPr>
        <p:spPr>
          <a:xfrm>
            <a:off x="584185" y="3598168"/>
            <a:ext cx="73648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F3B2E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015975" y="3555508"/>
            <a:ext cx="10718532" cy="310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Targeted remediation: multimodal scaffolding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1015975" y="3989844"/>
            <a:ext cx="10718532" cy="484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4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engine avoids repeating identical textbook passages. Instead, it serves an interactive 3-minute visual walkthrough isolating negative coefficient distribution.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457189" y="4722316"/>
            <a:ext cx="380990" cy="381000"/>
          </a:xfrm>
          <a:prstGeom prst="ellipse">
            <a:avLst/>
          </a:prstGeom>
          <a:solidFill>
            <a:srgbClr val="FF7F66"/>
          </a:solidFill>
          <a:ln/>
        </p:spPr>
      </p:sp>
      <p:sp>
        <p:nvSpPr>
          <p:cNvPr id="18" name="Text 14"/>
          <p:cNvSpPr/>
          <p:nvPr/>
        </p:nvSpPr>
        <p:spPr>
          <a:xfrm>
            <a:off x="583689" y="4804866"/>
            <a:ext cx="7374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F3B2E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1015975" y="4762206"/>
            <a:ext cx="10718532" cy="310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Scaffolded practice: progressive difficulty ramp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1015975" y="5196542"/>
            <a:ext cx="10718532" cy="490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4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Delivers 4 graduated exercises starting with </a:t>
            </a:r>
            <a:pPr algn="l" indent="0" marL="0">
              <a:lnSpc>
                <a:spcPct val="109000"/>
              </a:lnSpc>
              <a:buNone/>
            </a:pPr>
            <a:r>
              <a:rPr lang="en-US" sz="1400" i="1" dirty="0">
                <a:solidFill>
                  <a:srgbClr val="E3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09000"/>
              </a:lnSpc>
              <a:buNone/>
            </a:pPr>
            <a:r>
              <a:rPr lang="en-US" sz="14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, transitioning to negative coefficients, providing hint ladders on attempt two.</a:t>
            </a:r>
            <a:endParaRPr lang="en-US" sz="14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869" y="5209480"/>
            <a:ext cx="408969" cy="22959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57189" y="5935365"/>
            <a:ext cx="380990" cy="381000"/>
          </a:xfrm>
          <a:prstGeom prst="ellipse">
            <a:avLst/>
          </a:prstGeom>
          <a:solidFill>
            <a:srgbClr val="FF7F66"/>
          </a:solidFill>
          <a:ln/>
        </p:spPr>
      </p:sp>
      <p:sp>
        <p:nvSpPr>
          <p:cNvPr id="23" name="Text 18"/>
          <p:cNvSpPr/>
          <p:nvPr/>
        </p:nvSpPr>
        <p:spPr>
          <a:xfrm>
            <a:off x="581705" y="6017915"/>
            <a:ext cx="74154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F3B2E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1015975" y="5975255"/>
            <a:ext cx="10718532" cy="310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Verification &amp; pathway update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1015975" y="6409590"/>
            <a:ext cx="10718532" cy="484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4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Student solves check problems unassisted in under 90 seconds. System increments discriminant mastery index from 0.32 to 0.88 and unlocks vertex form.</a:t>
            </a:r>
            <a:endParaRPr lang="en-US" sz="1450" dirty="0"/>
          </a:p>
        </p:txBody>
      </p:sp>
      <p:sp>
        <p:nvSpPr>
          <p:cNvPr id="26" name="Shape 21"/>
          <p:cNvSpPr/>
          <p:nvPr/>
        </p:nvSpPr>
        <p:spPr>
          <a:xfrm>
            <a:off x="457189" y="3382268"/>
            <a:ext cx="11277318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27" name="Shape 22"/>
          <p:cNvSpPr/>
          <p:nvPr/>
        </p:nvSpPr>
        <p:spPr>
          <a:xfrm>
            <a:off x="457189" y="4588966"/>
            <a:ext cx="11277318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28" name="Shape 23"/>
          <p:cNvSpPr/>
          <p:nvPr/>
        </p:nvSpPr>
        <p:spPr>
          <a:xfrm>
            <a:off x="457189" y="5802015"/>
            <a:ext cx="11277318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29" name="Text 24"/>
          <p:cNvSpPr/>
          <p:nvPr/>
        </p:nvSpPr>
        <p:spPr>
          <a:xfrm>
            <a:off x="11786595" y="6526510"/>
            <a:ext cx="40510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06400"/>
            <a:ext cx="731501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EVALUATION FRAMEWORK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38630"/>
            <a:ext cx="7315017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54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How success should be measured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076900" y="406400"/>
            <a:ext cx="1657606" cy="338435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C5E3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0722" y="468313"/>
            <a:ext cx="153378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HOLISTIC TRIAD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189" y="1850926"/>
            <a:ext cx="11277318" cy="4157166"/>
          </a:xfrm>
          <a:prstGeom prst="roundRect">
            <a:avLst>
              <a:gd name="adj" fmla="val 2933"/>
            </a:avLst>
          </a:prstGeom>
          <a:solidFill>
            <a:srgbClr val="F7FAF4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182" y="2028726"/>
          <a:ext cx="10769331" cy="914400"/>
        </p:xfrm>
        <a:graphic>
          <a:graphicData uri="http://schemas.openxmlformats.org/drawingml/2006/table">
            <a:tbl>
              <a:tblPr/>
              <a:tblGrid>
                <a:gridCol w="2584584"/>
                <a:gridCol w="4092274"/>
                <a:gridCol w="4092473"/>
              </a:tblGrid>
              <a:tr h="3961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spc="14" kern="1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Evaluation dimension</a:t>
                      </a:r>
                      <a:endParaRPr lang="en-US" sz="14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spc="14" kern="1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Primary technical metrics</a:t>
                      </a:r>
                      <a:endParaRPr lang="en-US" sz="14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spc="14" kern="1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Educational interpretation</a:t>
                      </a:r>
                      <a:endParaRPr lang="en-US" sz="14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2279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Offline algorithmic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14" kern="1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NDCG@K, Recall@K, Precision@K, AUC-ROC</a:t>
                      </a:r>
                      <a:endParaRPr lang="en-US" sz="14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Does the model accurately rank resources that matching historical students found beneficial?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9621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Learning gains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14" kern="1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Pre/post-test delta, time-to-mastery, retention decay</a:t>
                      </a:r>
                      <a:endParaRPr lang="en-US" sz="14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Do students using recommended pathways acquire concepts faster and retain them longer?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2152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Human &amp; pedagogical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spc="14" kern="1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Learner trust score, cognitive load index, teacher override rate</a:t>
                      </a:r>
                      <a:endParaRPr lang="en-US" sz="14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Do students trust the recommendations, and can educators inspect and override the algorithm?</a:t>
                      </a:r>
                      <a:endParaRPr lang="en-US" sz="155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152396" marR="152396" marT="76198" marB="76198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189" y="6190893"/>
            <a:ext cx="1173450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A high offline NDCG score is meaningless if recommendations induce cognitive fatigue or fail post-test validation.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804156" y="6526510"/>
            <a:ext cx="38753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31800"/>
            <a:ext cx="731501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GOVERNANCE &amp; ETHICS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64030"/>
            <a:ext cx="7315017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54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Responsible implementation is part of the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774787" y="431800"/>
            <a:ext cx="1959720" cy="338435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C5E3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8609" y="493713"/>
            <a:ext cx="183589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189" y="1867436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Deploying AI in learning environments requires safeguards against algorithmic lock-in and bias.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189" y="2759373"/>
            <a:ext cx="3555911" cy="2617589"/>
          </a:xfrm>
          <a:prstGeom prst="roundRect">
            <a:avLst>
              <a:gd name="adj" fmla="val 4658"/>
            </a:avLst>
          </a:prstGeom>
          <a:solidFill>
            <a:srgbClr val="F7FAF4"/>
          </a:solidFill>
          <a:ln/>
        </p:spPr>
      </p:sp>
      <p:sp>
        <p:nvSpPr>
          <p:cNvPr id="8" name="Text 6"/>
          <p:cNvSpPr/>
          <p:nvPr/>
        </p:nvSpPr>
        <p:spPr>
          <a:xfrm>
            <a:off x="685783" y="3046710"/>
            <a:ext cx="30987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Privacy &amp; explainability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783" y="3567410"/>
            <a:ext cx="3098623" cy="31651"/>
          </a:xfrm>
          <a:prstGeom prst="roundRect">
            <a:avLst>
              <a:gd name="adj" fmla="val 49998"/>
            </a:avLst>
          </a:prstGeom>
          <a:solidFill>
            <a:srgbClr val="0F3B2E"/>
          </a:solidFill>
          <a:ln/>
        </p:spPr>
      </p:sp>
      <p:sp>
        <p:nvSpPr>
          <p:cNvPr id="10" name="Text 8"/>
          <p:cNvSpPr/>
          <p:nvPr/>
        </p:nvSpPr>
        <p:spPr>
          <a:xfrm>
            <a:off x="685783" y="3774023"/>
            <a:ext cx="3098722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Protect sensitive student performance records through differential privacy and provide plain-language explanations for why an item was suggested.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317892" y="2759373"/>
            <a:ext cx="3555911" cy="2617589"/>
          </a:xfrm>
          <a:prstGeom prst="roundRect">
            <a:avLst>
              <a:gd name="adj" fmla="val 4658"/>
            </a:avLst>
          </a:prstGeom>
          <a:solidFill>
            <a:srgbClr val="F7FAF4"/>
          </a:solidFill>
          <a:ln/>
        </p:spPr>
      </p:sp>
      <p:sp>
        <p:nvSpPr>
          <p:cNvPr id="12" name="Text 10"/>
          <p:cNvSpPr/>
          <p:nvPr/>
        </p:nvSpPr>
        <p:spPr>
          <a:xfrm>
            <a:off x="4546486" y="3046710"/>
            <a:ext cx="30987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Bias &amp; tracking audits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46486" y="3567410"/>
            <a:ext cx="3098623" cy="31651"/>
          </a:xfrm>
          <a:prstGeom prst="roundRect">
            <a:avLst>
              <a:gd name="adj" fmla="val 49998"/>
            </a:avLst>
          </a:prstGeom>
          <a:solidFill>
            <a:srgbClr val="0F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4546486" y="3774023"/>
            <a:ext cx="3098722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Audit models to prevent self-reinforcing feedback loops that pigeonhole students into low-difficulty tracks based on demographic or school data.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178595" y="2759373"/>
            <a:ext cx="3555911" cy="2617589"/>
          </a:xfrm>
          <a:prstGeom prst="roundRect">
            <a:avLst>
              <a:gd name="adj" fmla="val 4658"/>
            </a:avLst>
          </a:prstGeom>
          <a:solidFill>
            <a:srgbClr val="F7FAF4"/>
          </a:solidFill>
          <a:ln/>
        </p:spPr>
      </p:sp>
      <p:sp>
        <p:nvSpPr>
          <p:cNvPr id="16" name="Text 14"/>
          <p:cNvSpPr/>
          <p:nvPr/>
        </p:nvSpPr>
        <p:spPr>
          <a:xfrm>
            <a:off x="8407190" y="3046710"/>
            <a:ext cx="30987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Teacher agency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407190" y="3567410"/>
            <a:ext cx="3098623" cy="31651"/>
          </a:xfrm>
          <a:prstGeom prst="roundRect">
            <a:avLst>
              <a:gd name="adj" fmla="val 49998"/>
            </a:avLst>
          </a:prstGeom>
          <a:solidFill>
            <a:srgbClr val="0F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8407190" y="3774023"/>
            <a:ext cx="3098722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Keep educators firmly in the loop with diagnostic dashboards and one-click pedagogical overrides that supersede algorithmic outputs.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189" y="5964138"/>
            <a:ext cx="11277318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A8C4B7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Recommendation systems must empower student autonomy and teacher expertise, not replace instructional judgment.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89075" y="6526510"/>
            <a:ext cx="40262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2026-10-07T04:21:21Z</dcterms:created>
  <dcterms:modified xsi:type="dcterms:W3CDTF">2026-10-07T04:21:21Z</dcterms:modified>
</cp:coreProperties>
</file>