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3161109"/>
            <a:ext cx="381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270646"/>
            <a:ext cx="4381500" cy="2977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3280171"/>
            <a:ext cx="4362450" cy="2958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6096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9600" y="990600"/>
            <a:ext cx="6300787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Recommendation Systems in Education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270521"/>
            <a:ext cx="6000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Personalizing learning pathways, predicting student risks, and accelerating academic achievement through adaptive algorithms.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95350" y="628650"/>
            <a:ext cx="2512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EDTECH STRATEGY BRIEFING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43000" y="3089671"/>
            <a:ext cx="27860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Executive Technology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9600" y="2765226"/>
            <a:ext cx="3505200" cy="2249537"/>
          </a:xfrm>
          <a:prstGeom prst="roundRect">
            <a:avLst>
              <a:gd fmla="val 67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343400" y="2765226"/>
            <a:ext cx="3505200" cy="2249537"/>
          </a:xfrm>
          <a:prstGeom prst="roundRect">
            <a:avLst>
              <a:gd fmla="val 67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077200" y="2765226"/>
            <a:ext cx="3505200" cy="2249537"/>
          </a:xfrm>
          <a:prstGeom prst="roundRect">
            <a:avLst>
              <a:gd fmla="val 67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795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0795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0795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075" y="3203376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9162" y="3203376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8675" y="320337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09600" y="495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ARCHITECTURE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72390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 Models for Learning Personalization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85825" y="3727251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Collaborative Filtering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85825" y="4060626"/>
            <a:ext cx="3048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Analyzes peer learning behavior patterns to suggest optimal practice modules.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19625" y="3727251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Content-Based Mapping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19625" y="4060626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Matches individual student knowledge gaps directly against target curriculum objectives.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53425" y="3727251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Graphs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53425" y="4060626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Models prerequisite concepts across subjects to build dynamic skill sequences.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09600" y="2837408"/>
            <a:ext cx="2600325" cy="2105025"/>
          </a:xfrm>
          <a:prstGeom prst="roundRect">
            <a:avLst>
              <a:gd fmla="val 72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400425" y="2837408"/>
            <a:ext cx="2600325" cy="2105025"/>
          </a:xfrm>
          <a:prstGeom prst="roundRect">
            <a:avLst>
              <a:gd fmla="val 72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191250" y="2837408"/>
            <a:ext cx="2600325" cy="2105025"/>
          </a:xfrm>
          <a:prstGeom prst="roundRect">
            <a:avLst>
              <a:gd fmla="val 72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982075" y="2837408"/>
            <a:ext cx="2600325" cy="2105025"/>
          </a:xfrm>
          <a:prstGeom prst="roundRect">
            <a:avLst>
              <a:gd fmla="val 72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4932908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2837408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200400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00425" y="4932908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00425" y="2837408"/>
            <a:ext cx="260032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400425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991225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191250" y="4932908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191250" y="2837408"/>
            <a:ext cx="2600325" cy="381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191250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782050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8982075" y="4932908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982075" y="2837408"/>
            <a:ext cx="2600325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982075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1572875" y="2837408"/>
            <a:ext cx="9525" cy="2105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495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EVIDENCE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09600" y="72390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Quantifiable Impact on Academic Outcomes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47725" y="3180308"/>
            <a:ext cx="26550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+62%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47725" y="3751808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Score Gain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47725" y="4028033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Achieved via targeted dynamic practice pathways.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638550" y="3180308"/>
            <a:ext cx="26550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70%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638550" y="3751808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Teacher Time Saved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638550" y="4028033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Reduction in manual assignment grading tasks.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429375" y="3180308"/>
            <a:ext cx="26550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80%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429375" y="3751808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Detection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429375" y="4028033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Identifies struggling students within two weeks.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220200" y="3180308"/>
            <a:ext cx="26550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-15%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220200" y="3751808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Dropout Reduction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220200" y="4028033"/>
            <a:ext cx="22193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Lower course abandonments through proactive interventions.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609600" y="2599283"/>
            <a:ext cx="10972800" cy="733425"/>
          </a:xfrm>
          <a:prstGeom prst="roundRect">
            <a:avLst>
              <a:gd fmla="val 2077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09600" y="3523208"/>
            <a:ext cx="10972800" cy="733425"/>
          </a:xfrm>
          <a:prstGeom prst="roundRect">
            <a:avLst>
              <a:gd fmla="val 2077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9600" y="4447133"/>
            <a:ext cx="10972800" cy="733425"/>
          </a:xfrm>
          <a:prstGeom prst="roundRect">
            <a:avLst>
              <a:gd fmla="val 2077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209925" y="3037433"/>
            <a:ext cx="809625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209925" y="3961358"/>
            <a:ext cx="809625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209925" y="4885283"/>
            <a:ext cx="809625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209925" y="3037433"/>
            <a:ext cx="7367587" cy="952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209925" y="3961358"/>
            <a:ext cx="6477000" cy="9525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209925" y="4885283"/>
            <a:ext cx="6072187" cy="9525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09600" y="495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CAPABILITY SPECTRUM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09600" y="72390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Recommendation Capabilities in Practice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85825" y="2856458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Courseware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85825" y="3780383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Warning System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85825" y="4704308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Skill &amp; Elective Matching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3209925" y="2799308"/>
            <a:ext cx="2524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Real-time difficulty adjustment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744075" y="2799308"/>
            <a:ext cx="1952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91% Learning Efficiency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3209925" y="3723233"/>
            <a:ext cx="25360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Automated risk detection flags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505950" y="3723233"/>
            <a:ext cx="22502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80% Intervention Accuracy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3209925" y="4647158"/>
            <a:ext cx="32980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Personalized elective recommendations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601200" y="4647158"/>
            <a:ext cx="2131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rPr>
              <a:t>75% Student Engagement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609600" y="2918370"/>
            <a:ext cx="262890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390900" y="2918370"/>
            <a:ext cx="262890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6172200" y="2918370"/>
            <a:ext cx="262890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953500" y="2918370"/>
            <a:ext cx="2628900" cy="19431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09600" y="495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ROADMAP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09600" y="72390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Four-Phase Implementation Process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09625" y="3194595"/>
            <a:ext cx="2786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01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09625" y="3461295"/>
            <a:ext cx="29253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Integration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09625" y="3785145"/>
            <a:ext cx="23241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Consolidates LMS activity logs, assessment scores, and learner profiles into unified stores.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3590925" y="3194595"/>
            <a:ext cx="2786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02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3590925" y="3461295"/>
            <a:ext cx="29253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Alignment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3590925" y="3785145"/>
            <a:ext cx="2324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Calibrates algorithm scoring with faculty oversight to eliminate algorithmic demographic bias.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372225" y="3194595"/>
            <a:ext cx="2786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03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372225" y="3461295"/>
            <a:ext cx="29253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In-Context Delivery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372225" y="3785145"/>
            <a:ext cx="23241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Embeds real-time micro-recommendations directly into student learning portal views.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153525" y="3194595"/>
            <a:ext cx="2786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04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9153525" y="3461295"/>
            <a:ext cx="29253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Tuning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9153525" y="3785145"/>
            <a:ext cx="2324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course completion metrics continuously to refine predictive recommendation accuracy.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1485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181100" y="10668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2276475" y="1528762"/>
            <a:ext cx="5655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https://learningmole.com/wp-content/uploads/2025/08/v2-t4mn0-lm50s.jpg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2276475" y="1728787"/>
            <a:ext cx="2357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learningmole.com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